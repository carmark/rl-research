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Agentic RL 训练系统基础设施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A9EFF"/>
                </a:solidFill>
                <a:latin typeface="Microsoft YaHei"/>
              </a:defRPr>
            </a:pPr>
            <a:r>
              <a:t>深度调研与横向对比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2026-04-26  |  综合 8 大系统  |  参考综述: The Landscape of Agentic RL for LLMs (TMLR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651760" cy="411480"/>
          </a:xfrm>
          <a:prstGeom prst="roundRect">
            <a:avLst/>
          </a:prstGeom>
          <a:solidFill>
            <a:srgbClr val="22233C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A9EFF"/>
                </a:solidFill>
                <a:latin typeface="Microsoft YaHei"/>
              </a:defRPr>
            </a:pPr>
            <a:r>
              <a:t>verl (字节)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114800"/>
            <a:ext cx="2651760" cy="411480"/>
          </a:xfrm>
          <a:prstGeom prst="roundRect">
            <a:avLst/>
          </a:prstGeom>
          <a:solidFill>
            <a:srgbClr val="22233C"/>
          </a:solidFill>
          <a:ln w="25400">
            <a:solidFill>
              <a:srgbClr val="4E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EC96E"/>
                </a:solidFill>
                <a:latin typeface="Microsoft YaHei"/>
              </a:defRPr>
            </a:pPr>
            <a:r>
              <a:t>ROLL (阿里)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14800"/>
            <a:ext cx="2651760" cy="411480"/>
          </a:xfrm>
          <a:prstGeom prst="roundRect">
            <a:avLst/>
          </a:prstGeom>
          <a:solidFill>
            <a:srgbClr val="22233C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SLIME (清华)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4114800"/>
            <a:ext cx="2651760" cy="411480"/>
          </a:xfrm>
          <a:prstGeom prst="roundRect">
            <a:avLst/>
          </a:prstGeom>
          <a:solidFill>
            <a:srgbClr val="22233C"/>
          </a:solidFill>
          <a:ln w="25400">
            <a:solidFill>
              <a:srgbClr val="B06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06AFF"/>
                </a:solidFill>
                <a:latin typeface="Microsoft YaHei"/>
              </a:defRPr>
            </a:pPr>
            <a:r>
              <a:t>MILES (RadixArk)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651760" cy="411480"/>
          </a:xfrm>
          <a:prstGeom prst="roundRect">
            <a:avLst/>
          </a:prstGeom>
          <a:solidFill>
            <a:srgbClr val="22233C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D93D"/>
                </a:solidFill>
                <a:latin typeface="Microsoft YaHei"/>
              </a:defRPr>
            </a:pPr>
            <a:r>
              <a:t>Forge (MiniMax)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754880"/>
            <a:ext cx="2651760" cy="411480"/>
          </a:xfrm>
          <a:prstGeom prst="roundRect">
            <a:avLst/>
          </a:prstGeom>
          <a:solidFill>
            <a:srgbClr val="22233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Seer (月之暗面)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754880"/>
            <a:ext cx="2651760" cy="411480"/>
          </a:xfrm>
          <a:prstGeom prst="roundRect">
            <a:avLst/>
          </a:prstGeom>
          <a:solidFill>
            <a:srgbClr val="22233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E5FF"/>
                </a:solidFill>
                <a:latin typeface="Microsoft YaHei"/>
              </a:defRPr>
            </a:pPr>
            <a:r>
              <a:t>rl-swarm (Gensyn)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4754880"/>
            <a:ext cx="2651760" cy="411480"/>
          </a:xfrm>
          <a:prstGeom prst="roundRect">
            <a:avLst/>
          </a:prstGeom>
          <a:solidFill>
            <a:srgbClr val="22233C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A9EFF"/>
                </a:solidFill>
                <a:latin typeface="Microsoft YaHei"/>
              </a:defRPr>
            </a:pPr>
            <a:r>
              <a:t>ThunderAgent (Together)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6035040"/>
            <a:ext cx="8503920" cy="381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背景: 从 RLHF 到 Agentic RL 的范式转变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256032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9EFF"/>
                </a:solidFill>
                <a:latin typeface="Microsoft YaHei"/>
              </a:defRPr>
            </a:pPr>
            <a:r>
              <a:t>RLHF 时代 (2023-2024)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单步 MDP，同步批处理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TRL / DeepSpeed-Chat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短序列 (2K-4K)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人类偏好标注奖励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566160" cy="256032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C96E"/>
                </a:solidFill>
                <a:latin typeface="Microsoft YaHei"/>
              </a:defRPr>
            </a:pPr>
            <a:r>
              <a:t>RL Scaling 时代 (2025)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异构调度 (verl, OpenRLHF)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长 CoT 推理 (8K-64K)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671B MoE 模型支持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vLLM/SGLang 标准化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3566160" cy="256032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Agentic RL 时代 (2025-2026)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POMDP · 多轮交互 · 变长轨迹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环境延迟不可预测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200K+ Token 上下文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CM as Action · 环境泄露防护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A9E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A9E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EFF"/>
                </a:solidFill>
                <a:latin typeface="Microsoft YaHei"/>
              </a:defRPr>
            </a:pPr>
            <a:r>
              <a:t>RL 训练的四大子系统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2697480" cy="146304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A9EFF"/>
                </a:solidFill>
                <a:latin typeface="Microsoft YaHei"/>
              </a:defRPr>
            </a:pPr>
            <a:r>
              <a:t>Rollout 生成</a:t>
            </a:r>
          </a:p>
          <a:p>
            <a:pPr algn="ctr">
              <a:spcBef>
                <a:spcPts val="6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推理引擎 · 长尾处理</a:t>
            </a:r>
            <a:br/>
            <a:r>
              <a:t>占总时间 63%-87%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572000"/>
            <a:ext cx="2697480" cy="146304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4E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EC96E"/>
                </a:solidFill>
                <a:latin typeface="Microsoft YaHei"/>
              </a:defRPr>
            </a:pPr>
            <a:r>
              <a:t>Training 优化</a:t>
            </a:r>
          </a:p>
          <a:p>
            <a:pPr algn="ctr">
              <a:spcBef>
                <a:spcPts val="6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并行策略 · 算法实现</a:t>
            </a:r>
            <a:br/>
            <a:r>
              <a:t>PPO→GRPO→DAPO→CISPO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572000"/>
            <a:ext cx="2697480" cy="146304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9F43"/>
                </a:solidFill>
                <a:latin typeface="Microsoft YaHei"/>
              </a:defRPr>
            </a:pPr>
            <a:r>
              <a:t>Data Processing</a:t>
            </a:r>
          </a:p>
          <a:p>
            <a:pPr algn="ctr">
              <a:spcBef>
                <a:spcPts val="6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数据流转 · 奖励计算</a:t>
            </a:r>
            <a:br/>
            <a:r>
              <a:t>零拷贝 · 前缀共享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4572000"/>
            <a:ext cx="2697480" cy="146304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B06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06AFF"/>
                </a:solidFill>
                <a:latin typeface="Microsoft YaHei"/>
              </a:defRPr>
            </a:pPr>
            <a:r>
              <a:t>I/O 通信</a:t>
            </a:r>
          </a:p>
          <a:p>
            <a:pPr algn="ctr">
              <a:spcBef>
                <a:spcPts val="6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权重同步 · 调度</a:t>
            </a:r>
            <a:br/>
            <a:r>
              <a:t>NCCL · Ray · Gossip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调研总览: 8 个 Agentic RL 训练系统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8778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828800"/>
                <a:gridCol w="1645920"/>
                <a:gridCol w="1188720"/>
                <a:gridCol w="1463040"/>
              </a:tblGrid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系统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组织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架构模式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耦合度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开源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论文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字节跳动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单控制器+SPMD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共置(可解耦)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✅ GitHub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EuroSys 2025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阿里巴巴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单控制器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灵活(3模式)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✅ GitHub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arXiv 多篇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SLIME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清华 THUDM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编排层解耦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解耦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✅ GitHub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arXiv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MILES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RadixArk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编排层解耦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解耦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✅ GitHub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arXiv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Forge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MiniMax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三层中间件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完全解耦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❌ 博客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HF Blog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Seer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月之暗面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集中式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动态切换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❌ 论文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arXiv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rl-swarm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Gensyn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P2P 去中心化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完全解耦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✅ GitHub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arXiv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ThunderAgent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Together AI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Program感知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工作流解耦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✅ GitHub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arXiv 2602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LLM RL vs. Agentic RL: 核心范式区别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参考: The Landscape of Agentic RL for LLMs (TMLR 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332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5029200"/>
              </a:tblGrid>
              <a:tr h="62865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LLM RL (传统)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Agentic RL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MDP 模型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退化的单步 MDP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时序扩展 POMDP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Prompt + 已生成 Token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完整环境状态 (部分可观)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动作空间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词汇表 Token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Token + 工具 + API + GUI + 代码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转移动态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确定性 (下一 Token 拼接)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环境介导、随机、可能对抗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奖励函数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偏好模型 (静态)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任务指标、执行验证、Critique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交互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单轮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多轮 · 多步 · 持续环境交互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信用分配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Token 级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跨步骤/跨轮次长程信用分配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RL 粒度: Token / Turn / Trajectory / Bi-Level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011680"/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粒度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描述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优势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劣势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代表系统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Token 级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每个Token=独立MDP步骤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细粒度信用分配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无法捕获Agent行为结构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verl(PPO), SLIME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Turn 级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每个Agent轮次=一个MDP步骤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匹配任务结构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错过轮次内部动态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Forge (Agent多轮)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Trajectory 级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完整轨迹获得单一奖励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奖励设计简单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信号稀疏·信用分配难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rl-swarm (SAPO)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Chunk 级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环境交互间连续段=Chunk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匹配Agent交互结构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实现复杂度高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 (Chunked MDP)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双层 Bi-Level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组合 Turn 级和 Token 级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结构对齐+细粒度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复杂度最高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前沿研究方向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Microsoft YaHei"/>
              </a:defRPr>
            </a:pPr>
            <a:r>
              <a:t>关键发现: Token 级 MDP 对 Agentic 任务日益不适用。Turn/Step 应成为 LLM Agent 的适当动作表示。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Agentic RL Infra 三大核心挑战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502920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挑战一: Off-Policy 与异步训练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异步训练不可避免引入 Off-Policy 偏差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仅用最新数据 → 采样偏差 (偏向快且简单样本)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仅用最旧数据 → 长尾效应拖累吞吐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解法: 滑动窗口(Forge)·双边IS(SLIME)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    Chunked MDP IS(ROLL)·同步消泡(Seer)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097280"/>
            <a:ext cx="3657600" cy="502920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挑战二: 环境管理与数据质量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环境泄露: Agent中间产物可能提供hint导致作弊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伪阳性: 不完整测试数据导致虚假正向奖励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No-op 通过: 不执行操作即可通过测试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解法: Rock沙箱+环境清理(ROLL)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    LLM-as-Judge验证(ROLL)·Gateway隔离(Forge)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3657600" cy="502920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6AFF"/>
                </a:solidFill>
                <a:latin typeface="Microsoft YaHei"/>
              </a:defRPr>
            </a:pPr>
            <a:r>
              <a:t>挑战三: 上下文管理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多轮交互产生超长上下文 (200K+ Token)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KV Cache 管理与复用成为瓶颈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KV-Cache Thrashing (7.1x延迟膨胀)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解法: CM as Action(Forge)·Mooncake两层缓存(Seer)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    Program感知防KV Thrashing(ThunderAgent)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verl (字节跳动)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HybridFlow 混合控制器  |  EuroSys 2025  |  v0.7.1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9EFF"/>
                </a:solidFill>
                <a:latin typeface="Microsoft YaHei"/>
              </a:defRPr>
            </a:pPr>
            <a:r>
              <a:t>架构核心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单控制器 (MPMD) + 多控制器 (SPMD) 统一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ResourcePool: Ray placement group 管理 GPU 集合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create_colocated_worker_cls: Actor/Rollout/Ref 同GPU共置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3D-HybridEngine: 训练↔推理零冗余权重切换 (PP→micro-DP)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关键创新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DataProto/TransferQueue: 控制流与数据流解耦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Server 模式 + AgentLoop: 支持多轮 Agentic 任务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5D 并行: DP+TP+PP+CP+EP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NIXL: GPU-Direct RDMA P2P 通信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404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vs DeepSpeed-Chat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3.67x+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异步训练加速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2.35-2.67x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最大模型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671B MoE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权重同步延迟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&lt;300ms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840480"/>
            <a:ext cx="55778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9EFF"/>
                </a:solidFill>
                <a:latin typeface="Microsoft YaHei"/>
              </a:defRPr>
            </a:pPr>
            <a:r>
              <a:t>性能亮点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vs DeepSpeed-Chat: 3.67x+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异步训练加速: 2.35-2.67x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最大模型: 671B MoE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权重同步延迟: &lt;300ms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ROLL (阿里巴巴)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灵活设备映射 + ROLLMUX/ROLLART 资源优化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C96E"/>
                </a:solidFill>
                <a:latin typeface="Microsoft YaHei"/>
              </a:defRPr>
            </a:pPr>
            <a:r>
              <a:t>架构核心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AutoDeviceMapping: 共置/解耦/Serverless 三模式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Rollout Scheduler: 样本生命周期管理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ROLLMUX: 阶段级GPU复用，控制面/数据面解耦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ROLLART: 无状态组件 Serverless 弹性伸缩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关键创新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Chunked MDP: Chunk级奖励和IS计算 (匹配Agent交互)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AgentServer + Rock Sandbox: 环境管理+防泄露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LLM-as-Judge + No-op 验证: 数据质量保障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Dense Reward: 过程奖励 + 时间奖励 + R2G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404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ROLLMUX 成本效率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1.84x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RollPacker 加速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2.03-2.56x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ROLLART 加速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1.35-2.05x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权重同步 vs verl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7.87-8.33x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840480"/>
            <a:ext cx="55778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4E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EC96E"/>
                </a:solidFill>
                <a:latin typeface="Microsoft YaHei"/>
              </a:defRPr>
            </a:pPr>
            <a:r>
              <a:t>性能亮点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ROLLMUX 成本效率: 1.84x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RollPacker 加速: 2.03-2.56x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ROLLART 加速: 1.35-2.05x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权重同步 vs verl: 7.87-8.33x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SLIME (清华 THUDM)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SGLang 原生设计  |  GLM-4.5/GLM-5 训练框架  |  v0.2.3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架构核心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SGLang 原生集成 + Megatron (mbridge) 训练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SlimeRouter (sgl-router): 多实例负载均衡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StringRadixTrie: Token级前缀缓存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Ray 编排: PlacementGroup + RayTrainGroup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关键创新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APRIL: 主动部分Rollout (过量供应→早停→回收)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Agent-RL 解耦: 用户无需更改Agent环境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双边 IS 采样修正: Off-Policy 偏差控制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FP8 + DeepEP: 355B MoE 6-7x 推理加速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404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最大模型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355B MoE (64×H100)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APRIL 端到端加速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FP8+DeepEP 推理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6-7x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多轮 vs 单轮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一致更优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840480"/>
            <a:ext cx="55778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性能亮点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最大模型: 355B MoE (64×H100)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APRIL 端到端加速: 40%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FP8+DeepEP 推理: 6-7x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多轮 vs 单轮: 一致更优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MILES (RadixArk)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SLIME 企业级分支  |  MoE 路由一致性解决方案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6AFF"/>
                </a:solidFill>
                <a:latin typeface="Microsoft YaHei"/>
              </a:defRPr>
            </a:pPr>
            <a:r>
              <a:t>架构核心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SGLang FP8 推理 + Megatron FP8 训练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R3 路由回放桥: 连接推理与训练的路由决策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CUDA IPC 零拷贝: 高效权重同步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在线 SFT MTP: 投机解码草稿层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关键创新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R3 (Rollout Routing Replay): 解决MoE路由不一致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端到端 FP8: 首个Rollout+Training均FP8的框架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INT4 QAT: 1TB模型单机H200可推理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MrlX: 异步共演化多智能体RL框架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404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投机解码加速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25%+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权重同步降低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单机模型规模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1TB (INT4)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路由不一致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94%Token→大幅降低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840480"/>
            <a:ext cx="55778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B06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06AFF"/>
                </a:solidFill>
                <a:latin typeface="Microsoft YaHei"/>
              </a:defRPr>
            </a:pPr>
            <a:r>
              <a:t>性能亮点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投机解码加速: 25%+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权重同步降低: 50%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单机模型规模: 1TB (INT4)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路由不一致: 94%Token→大幅降低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Forge (MiniMax)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三层中间件架构  |  M2.5 (230B/10B active)  |  原生 Agentic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架构核心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Layer 1 Agent Side: White/Black-Box + Context Manager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Layer 2 Middleware: Gateway + Data Pool + Windowed FIFO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Layer 3 Engine: LLM Rollout + Train + L3 KV Cache Pool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PD 解耦: 异构 Prefill-Decode 分离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关键创新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CISPO: 全Token梯度参与 (vs PPO部分Token被过滤)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Prefix Tree Merging: ~40x 训练前向加速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CM as Agent Action: 上下文管理建模为动作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滑动窗口 (Windowed FIFO): Off-Policy平衡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404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CISPO vs DAPO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2x 收敛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Prefix Tree 加速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~40x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模型规模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230B (10B active)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上下文支持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200K Token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840480"/>
            <a:ext cx="55778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D93D"/>
                </a:solidFill>
                <a:latin typeface="Microsoft YaHei"/>
              </a:defRPr>
            </a:pPr>
            <a:r>
              <a:t>性能亮点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CISPO vs DAPO: 2x 收敛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Prefix Tree 加速: ~40x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模型规模: 230B (10B active)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上下文支持: 200K Token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Seer (月之暗面 Moonshot AI)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严格同步 On-Policy  |  不改算法，仅消除气泡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架构核心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集中式控制器 + Megatron 训练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Divided Rollout: GRPO组拆分为8K chunk增量调度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DGDS: 分布式分组草稿服务器 (无需独立草稿模型)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Mooncake KVCache: 两层 DRAM+SSD 分布式缓存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关键创新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Divided Rollout: 细粒度分解+早期打包+晚期调整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DGDS: 压缩后缀树+组内投机解码 (+30-44%)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任务时间奖励 + Reward-to-Go: Dense Reward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Context-Aware 调度: 近似最优最长优先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404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Rollout 吞吐量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+74-97%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长尾延迟降低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-75-93%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DGDS 贡献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+30-44%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Divided Rollout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+27-35%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840480"/>
            <a:ext cx="55778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性能亮点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Rollout 吞吐量: +74-97%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长尾延迟降低: -75-93%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DGDS 贡献: +30-44%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Divided Rollout: +27-35%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rl-swarm (Gensyn)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完全去中心化 P2P RL 训练  |  消费级 GPU 民主化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  <a:latin typeface="Microsoft YaHei"/>
              </a:defRPr>
            </a:pPr>
            <a:r>
              <a:t>架构核心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无中心协调: P2P Gossip 网络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Hivemind 协议: 交换Rollout/反馈/批评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NoLoCo: 低通信 Gossip 替代 AllReduce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Gensyn Testnet 智能合约链上协调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关键创新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SAPO: 共享Rollout文本(非梯度)，架构无关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P2P 训练: 消费级GPU (RTX 3090+) 可参与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'Aha moments' 通过 Swarm 传播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不同架构和规模的模型可共享经验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404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累计奖励提升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94% (8×0.5B)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社区参与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数千成员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最低硬件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RTX 3090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局限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大模型收益递减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840480"/>
            <a:ext cx="55778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5FF"/>
                </a:solidFill>
                <a:latin typeface="Microsoft YaHei"/>
              </a:defRPr>
            </a:pPr>
            <a:r>
              <a:t>性能亮点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累计奖励提升: 94% (8×0.5B)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社区参与: 数千成员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最低硬件: RTX 3090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局限: 大模型收益递减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ThunderAgent (Together AI)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Program-Aware Agentic 推理系统  |  arXiv 2602.13692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9EFF"/>
                </a:solidFill>
                <a:latin typeface="Microsoft YaHei"/>
              </a:defRPr>
            </a:pPr>
            <a:r>
              <a:t>架构核心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Program 抽象: 工作流级持久调度单元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元数据跟踪: 工作流ID/执行阶段/调度状态/Token数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调度与执行后端 (vLLM/SGLang) 完全解耦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可与 Slime/SkyRL 等 RL 框架集成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237744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关键创新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KV-Cache 感知调度: 防止活跃工作流KV被驱逐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Program 抽象: 从请求级提升到工作流级调度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异步环境准备: 工具调用期间预准备推理环境</a:t>
            </a:r>
          </a:p>
          <a:p>
            <a:pPr>
              <a:spcBef>
                <a:spcPts val="200"/>
              </a:spcBef>
              <a:defRPr sz="1200">
                <a:solidFill>
                  <a:srgbClr val="DDDDEE"/>
                </a:solidFill>
                <a:latin typeface="Microsoft YaHei"/>
              </a:defRPr>
            </a:pPr>
            <a:r>
              <a:t>  解决 KV-Cache Thrashing (7.1x延迟膨胀→近零)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404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RL Rollout 吞吐量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1.8-3.9x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推理服务吞吐量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1.5-3.6x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KV Thrashing 优化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7.1x→近零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磁盘内存节省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最高 4.2x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840480"/>
            <a:ext cx="55778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9EFF"/>
                </a:solidFill>
                <a:latin typeface="Microsoft YaHei"/>
              </a:defRPr>
            </a:pPr>
            <a:r>
              <a:t>性能亮点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RL Rollout 吞吐量: 1.8-3.9x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推理服务吞吐量: 1.5-3.6x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KV Thrashing 优化: 7.1x→近零</a:t>
            </a:r>
          </a:p>
          <a:p>
            <a:pPr algn="ctr">
              <a:spcBef>
                <a:spcPts val="800"/>
              </a:spcBef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磁盘内存节省: 最高 4.2x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横向对比: Rollout /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Rollout 占 RL 训练总时间 63%-87%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8595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371600"/>
                <a:gridCol w="1371600"/>
                <a:gridCol w="1463040"/>
                <a:gridCol w="1554480"/>
              </a:tblGrid>
              <a:tr h="5892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系统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推理引擎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推理模式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投机解码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长尾处理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关键优化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vLLM/SGLang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TRT-LLM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Server模式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AgentLoop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多轮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动态批处理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2.35-2.67x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vLLM/SGLang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动态FP8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Scheduler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+RollPacker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RollPacker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2.03-2.56x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SLIME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SGLang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HTTP Server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APRIL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部分Rollout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FP8+DeepEP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6-7x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MILES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SGLang(FP8)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HTTP Server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在线SFT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MTP(25%+)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APRIL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+过采样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R3路由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记录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Forge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自研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PD解耦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Dynamic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MTP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Windowed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FIFO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L3 KV Cache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~40x Prefix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Seer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vLLM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Divided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Rollout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DGDS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(30-44%)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分段消除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气泡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+74-97%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吞吐量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rl-swarm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vLLM/本地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本地推理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P2P共享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ThunderAgent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vLLM/SGLang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Program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-Aware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KV-Cache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感知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防KV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Thrashing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横向对比: Training /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961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828800"/>
                <a:gridCol w="1463040"/>
                <a:gridCol w="1645920"/>
                <a:gridCol w="1188720"/>
              </a:tblGrid>
              <a:tr h="5892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系统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训练引擎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并行策略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核心算法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训练模式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量化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FSDP/Megatron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5D并行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DP+TP+PP+CP+EP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PPO/GRPO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DAPO/DPO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同步+异步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实验FP8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Megatron/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FSDP/DS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自动选择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PPO/GRPO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DAPO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同步+异步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(Flash)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FP8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Rollout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SLIME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Megatron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(mbridge)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TP+PP+DP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+CP+EP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PPO/GRPO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DAPO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同步+异步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(双边IS)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MILES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Megatron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(mbridge)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TP+PP+DP+EP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GRPO+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TIS/MIS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同步+异步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FP8 E2E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INT4 QAT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Forge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自研(Magi)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自研并行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CISPO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混合域统一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Seer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Megatron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DP+TP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PPO/GRPO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严格同步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On-Policy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rl-swarm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trl+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Hivemind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P2P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AllReduce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SAPO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(GRPO改进)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去中心化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异步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ThunderAgent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依赖集成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框架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依赖集成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框架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依赖集成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框架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依赖集成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框架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横向对比: I/O 与通信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1381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188720"/>
                <a:gridCol w="1188720"/>
                <a:gridCol w="1828800"/>
                <a:gridCol w="1371600"/>
              </a:tblGrid>
              <a:tr h="5892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系统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调度框架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集合通信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推理通信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权重同步方案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同步性能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Ray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NCCL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gRPC/HTTP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3D-HybridEngine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/NIXL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&lt;300ms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Ray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NCCL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gRPC/HTTP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ROLLMUX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挂起/恢复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7.87-8.33x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vs verl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SLIME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Ray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NCCL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HTTP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(SGLang)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CUDA IPC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/分布式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BF16~48s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FP8~100s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MILES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Ray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NCCL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HTTP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(SGLang)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CUDA IPC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零拷贝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50%↓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Forge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自研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中间件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自研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OpenAI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API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L3 KV Cache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Pool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Seer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自研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NCCL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内部RPC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Mooncake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Checkpoint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rl-swarm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Hivemind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P2P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AllReduce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libp2p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Gossip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广播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高(互联网)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ThunderAgent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Program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-Aware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依赖后端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依赖后端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1.8-3.9x</a:t>
                      </a:r>
                    </a:p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Rollout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横向对比: Agentic 特有挑战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698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757645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挑战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verl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ROLL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SLIME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MILES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Forge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Seer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rl-swarm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Thunder</a:t>
                      </a:r>
                    </a:p>
                    <a:p>
                      <a:pPr algn="ctr">
                        <a:defRPr sz="9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Off-Policy</a:t>
                      </a:r>
                    </a:p>
                    <a:p>
                      <a:pPr algn="l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控制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异步+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版本管理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Chunked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MDP IS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双边IS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TIS/MIS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滑动窗口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严格同步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Gossip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异步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依赖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集成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环境泄露</a:t>
                      </a:r>
                    </a:p>
                    <a:p>
                      <a:pPr algn="l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防护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✅严格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清理+隔离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Gateway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隔离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Program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隔离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上下文</a:t>
                      </a:r>
                    </a:p>
                    <a:p>
                      <a:pPr algn="l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管理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动态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批处理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Scheduler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RadixTrie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RadixTrie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CM as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Mooncake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分布式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本地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防KV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Thrashing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Dense</a:t>
                      </a:r>
                    </a:p>
                    <a:p>
                      <a:pPr algn="l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Reward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✅过程+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时间+R2G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Critique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✅时间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+R2G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KV Cache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vLLM/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SGLang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vLLM/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SGLang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SGLang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Radix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SGLang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Radix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L3全局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Pool(DFS)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Mooncake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(DRAM+SSD)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本地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防驱逐</a:t>
                      </a:r>
                    </a:p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(7.1x优化)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创新点速查表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6070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029200"/>
                <a:gridCol w="4114800"/>
              </a:tblGrid>
              <a:tr h="5892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系统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核心创新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解决的问题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HybridFlow + 3D-HybridEngine + TransferQueue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灵活性与性能统一·控制流数据流解耦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ROLLMUX阶段复用 + ROLLART Serverless</a:t>
                      </a:r>
                    </a:p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 Chunked MDP + AgentServer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GPU利用率·Agentic奖励建模·环境管理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SLIME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APRIL主动部分Rollout + SGLang原生</a:t>
                      </a:r>
                    </a:p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 Agent-RL解耦 + 双边IS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长尾延迟·Agent生态兼容·Off-Policy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MILES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R3路由回放 + 端到端FP8</a:t>
                      </a:r>
                    </a:p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 在线SFT投机解码 + MrlX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MoE路由一致性·量化加速·多智能体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Forge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CISPO + Prefix Tree Merging</a:t>
                      </a:r>
                    </a:p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 CM as Action + 滑动窗口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全Token梯度·40x加速·上下文感知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Seer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Divided Rollout + DGDS</a:t>
                      </a:r>
                    </a:p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 Mooncake KVCache + 时间奖励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长CoT气泡消除·Dense Reward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rl-swarm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SAPO P2P训练 + Gossip共享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去中心化民主化训练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ThunderAgent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Program抽象 + KV-Cache感知调度</a:t>
                      </a:r>
                    </a:p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 异步环境准备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KV-Cache Thrashing消除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性能关键数据对比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05840"/>
          <a:ext cx="859536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1645920"/>
                <a:gridCol w="2743200"/>
              </a:tblGrid>
              <a:tr h="37185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系统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核心指标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条件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vs DeepSpeed-Chat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3.67x+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原始基准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异步训练加速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2.35-2.67x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128 GPU·Qwen2.5-7B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ROLLMUX 成本效率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1.84x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vs 标准解耦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RollPacker 加速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2.03-2.56x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vs verl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SLIME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APRIL 端到端加速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吞吐量提升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SLIME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FP8+DeepEP 推理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6-7x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GLM4.5-355B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MILES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投机解码加速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25%+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在线SFT MTP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Forge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Prefix Tree 加速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~40x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训练前向传播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Forge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CISPO vs DAPO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2x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Qwen2.5-32B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Seer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Rollout 吞吐量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+74-97%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32×8 H800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Seer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长尾延迟降低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-75-93%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生产负载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ThunderAgent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RL Rollout 吞吐量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1.8-3.9x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vs vLLM+SGLang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ThunderAgent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KV Thrashing 优化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7.1x→近零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延迟膨胀消除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rl-swarm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累计奖励提升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8×Qwen2.5-0.5B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架构模式光谱 + 技术栈依赖图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9EFF"/>
                </a:solidFill>
                <a:latin typeface="Microsoft YaHei"/>
              </a:defRPr>
            </a:pPr>
            <a:r>
              <a:t>集中式 ←━━━━━━━━━━━━━━━━━━━━━━━━━━━━━━━━━━━━━━━━━━━→ 去中心化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325880" cy="109728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A9EFF"/>
                </a:solidFill>
                <a:latin typeface="Microsoft YaHei"/>
              </a:defRPr>
            </a:pPr>
            <a:r>
              <a:t>verl</a:t>
            </a:r>
          </a:p>
          <a:p>
            <a:pPr algn="ctr">
              <a:defRPr sz="900">
                <a:solidFill>
                  <a:srgbClr val="DDDDEE"/>
                </a:solidFill>
                <a:latin typeface="Microsoft YaHei"/>
              </a:defRPr>
            </a:pPr>
            <a:r>
              <a:t>单控制器</a:t>
            </a:r>
            <a:br/>
            <a:r>
              <a:t>共置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554480"/>
            <a:ext cx="1325880" cy="109728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6B6B"/>
                </a:solidFill>
                <a:latin typeface="Microsoft YaHei"/>
              </a:defRPr>
            </a:pPr>
            <a:r>
              <a:t>Seer</a:t>
            </a:r>
          </a:p>
          <a:p>
            <a:pPr algn="ctr">
              <a:defRPr sz="900">
                <a:solidFill>
                  <a:srgbClr val="DDDDEE"/>
                </a:solidFill>
                <a:latin typeface="Microsoft YaHei"/>
              </a:defRPr>
            </a:pPr>
            <a:r>
              <a:t>集中式</a:t>
            </a:r>
            <a:br/>
            <a:r>
              <a:t>动态切换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554480"/>
            <a:ext cx="1325880" cy="109728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4E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EC96E"/>
                </a:solidFill>
                <a:latin typeface="Microsoft YaHei"/>
              </a:defRPr>
            </a:pPr>
            <a:r>
              <a:t>ROLL</a:t>
            </a:r>
          </a:p>
          <a:p>
            <a:pPr algn="ctr">
              <a:defRPr sz="900">
                <a:solidFill>
                  <a:srgbClr val="DDDDEE"/>
                </a:solidFill>
                <a:latin typeface="Microsoft YaHei"/>
              </a:defRPr>
            </a:pPr>
            <a:r>
              <a:t>灵活</a:t>
            </a:r>
            <a:br/>
            <a:r>
              <a:t>3模式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554480"/>
            <a:ext cx="1325880" cy="109728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SLIME</a:t>
            </a:r>
          </a:p>
          <a:p>
            <a:pPr algn="ctr">
              <a:defRPr sz="900">
                <a:solidFill>
                  <a:srgbClr val="DDDDEE"/>
                </a:solidFill>
                <a:latin typeface="Microsoft YaHei"/>
              </a:defRPr>
            </a:pPr>
            <a:r>
              <a:t>编排层</a:t>
            </a:r>
            <a:br/>
            <a:r>
              <a:t>解耦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1325880" cy="109728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B06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06AFF"/>
                </a:solidFill>
                <a:latin typeface="Microsoft YaHei"/>
              </a:defRPr>
            </a:pPr>
            <a:r>
              <a:t>MILES</a:t>
            </a:r>
          </a:p>
          <a:p>
            <a:pPr algn="ctr">
              <a:defRPr sz="900">
                <a:solidFill>
                  <a:srgbClr val="DDDDEE"/>
                </a:solidFill>
                <a:latin typeface="Microsoft YaHei"/>
              </a:defRPr>
            </a:pPr>
            <a:r>
              <a:t>编排层</a:t>
            </a:r>
            <a:br/>
            <a:r>
              <a:t>模块化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1325880" cy="109728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D93D"/>
                </a:solidFill>
                <a:latin typeface="Microsoft YaHei"/>
              </a:defRPr>
            </a:pPr>
            <a:r>
              <a:t>Forge</a:t>
            </a:r>
          </a:p>
          <a:p>
            <a:pPr algn="ctr">
              <a:defRPr sz="900">
                <a:solidFill>
                  <a:srgbClr val="DDDDEE"/>
                </a:solidFill>
                <a:latin typeface="Microsoft YaHei"/>
              </a:defRPr>
            </a:pPr>
            <a:r>
              <a:t>中间件</a:t>
            </a:r>
            <a:br/>
            <a:r>
              <a:t>完全解耦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554480"/>
            <a:ext cx="1325880" cy="109728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A9EFF"/>
                </a:solidFill>
                <a:latin typeface="Microsoft YaHei"/>
              </a:defRPr>
            </a:pPr>
            <a:r>
              <a:t>Thunder</a:t>
            </a:r>
            <a:br/>
            <a:r>
              <a:t>Agent</a:t>
            </a:r>
          </a:p>
          <a:p>
            <a:pPr algn="ctr">
              <a:defRPr sz="900">
                <a:solidFill>
                  <a:srgbClr val="DDDDEE"/>
                </a:solidFill>
                <a:latin typeface="Microsoft YaHei"/>
              </a:defRPr>
            </a:pPr>
            <a:r>
              <a:t>Program感知</a:t>
            </a:r>
            <a:br/>
            <a:r>
              <a:t>工作流级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0" y="1554480"/>
            <a:ext cx="1325880" cy="109728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  <a:latin typeface="Microsoft YaHei"/>
              </a:defRPr>
            </a:pPr>
            <a:r>
              <a:t>rl-swarm</a:t>
            </a:r>
          </a:p>
          <a:p>
            <a:pPr algn="ctr">
              <a:defRPr sz="900">
                <a:solidFill>
                  <a:srgbClr val="DDDDEE"/>
                </a:solidFill>
                <a:latin typeface="Microsoft YaHei"/>
              </a:defRPr>
            </a:pPr>
            <a:r>
              <a:t>P2P</a:t>
            </a:r>
            <a:br/>
            <a:r>
              <a:t>无中心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EFF"/>
                </a:solidFill>
                <a:latin typeface="Microsoft YaHei"/>
              </a:defRPr>
            </a:pPr>
            <a:r>
              <a:t>技术栈依赖图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291840"/>
            <a:ext cx="2834640" cy="411480"/>
          </a:xfrm>
          <a:prstGeom prst="round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B2E"/>
                </a:solidFill>
                <a:latin typeface="Microsoft YaHei"/>
              </a:defRPr>
            </a:pPr>
            <a:r>
              <a:t>推理引擎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79476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A9EFF"/>
                </a:solidFill>
                <a:latin typeface="Microsoft YaHei"/>
              </a:defRPr>
            </a:pPr>
            <a:r>
              <a:t>vLLM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verl, ROLL, Seer, rl-swarm, ThunderAgent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75488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A9EFF"/>
                </a:solidFill>
                <a:latin typeface="Microsoft YaHei"/>
              </a:defRPr>
            </a:pPr>
            <a:r>
              <a:t>SGLang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verl, ROLL, SLIME, MILES, ThunderAgent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71500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A9EFF"/>
                </a:solidFill>
                <a:latin typeface="Microsoft YaHei"/>
              </a:defRPr>
            </a:pPr>
            <a:r>
              <a:t>自研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Forge, Seer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291840"/>
            <a:ext cx="2834640" cy="411480"/>
          </a:xfrm>
          <a:prstGeom prst="roundRect">
            <a:avLst/>
          </a:prstGeom>
          <a:solidFill>
            <a:srgbClr val="4EC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B2E"/>
                </a:solidFill>
                <a:latin typeface="Microsoft YaHei"/>
              </a:defRPr>
            </a:pPr>
            <a:r>
              <a:t>训练引擎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379476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EC96E"/>
                </a:solidFill>
                <a:latin typeface="Microsoft YaHei"/>
              </a:defRPr>
            </a:pPr>
            <a:r>
              <a:t>Megatron-LM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verl, ROLL, SLIME, MILES, Seer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475488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EC96E"/>
                </a:solidFill>
                <a:latin typeface="Microsoft YaHei"/>
              </a:defRPr>
            </a:pPr>
            <a:r>
              <a:t>FSDP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verl, ROLL, MILES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571500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EC96E"/>
                </a:solidFill>
                <a:latin typeface="Microsoft YaHei"/>
              </a:defRPr>
            </a:pPr>
            <a:r>
              <a:t>自研/其他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Forge(Magi), rl-swarm(trl)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91840"/>
            <a:ext cx="2834640" cy="41148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B2E"/>
                </a:solidFill>
                <a:latin typeface="Microsoft YaHei"/>
              </a:defRPr>
            </a:pPr>
            <a:r>
              <a:t>调度框架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9476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Ray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verl, ROLL, SLIME, MILES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75488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自研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Forge, Seer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71500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其他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Hivemind(rl-swarm), Program(Thunder)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3291840"/>
            <a:ext cx="2834640" cy="411480"/>
          </a:xfrm>
          <a:prstGeom prst="roundRect">
            <a:avLst/>
          </a:prstGeom>
          <a:solidFill>
            <a:srgbClr val="B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B2E"/>
                </a:solidFill>
                <a:latin typeface="Microsoft YaHei"/>
              </a:defRPr>
            </a:pPr>
            <a:r>
              <a:t>集合通信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379476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06AFF"/>
                </a:solidFill>
                <a:latin typeface="Microsoft YaHei"/>
              </a:defRPr>
            </a:pPr>
            <a:r>
              <a:t>NCCL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verl, ROLL, SLIME, MILES, Seer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475488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06AFF"/>
                </a:solidFill>
                <a:latin typeface="Microsoft YaHei"/>
              </a:defRPr>
            </a:pPr>
            <a:r>
              <a:t>P2P/Gossip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rl-swarm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5715000"/>
            <a:ext cx="2834640" cy="8686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06AFF"/>
                </a:solidFill>
                <a:latin typeface="Microsoft YaHei"/>
              </a:defRPr>
            </a:pPr>
            <a:r>
              <a:t>自研</a:t>
            </a:r>
          </a:p>
          <a:p>
            <a:pPr>
              <a:defRPr sz="900">
                <a:solidFill>
                  <a:srgbClr val="AAAACC"/>
                </a:solidFill>
                <a:latin typeface="Microsoft YaHei"/>
              </a:defRPr>
            </a:pPr>
            <a:r>
              <a:t>← Forge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Infra 演进时间线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698480" cy="76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48840"/>
            <a:ext cx="320040" cy="320040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9EFF"/>
                </a:solidFill>
                <a:latin typeface="Microsoft YaHei"/>
              </a:defRPr>
            </a:pPr>
            <a:r>
              <a:t>2024</a:t>
            </a:r>
            <a:br/>
            <a:r>
              <a:t>RLHF 时代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3200400" cy="173736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9EFF"/>
                </a:solidFill>
                <a:latin typeface="Microsoft YaHei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TRL/DeepSpeed-Chat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短序列·同步批处理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单步MDP·人类偏好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Token级奖励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2148840"/>
            <a:ext cx="320040" cy="320040"/>
          </a:xfrm>
          <a:prstGeom prst="ellipse">
            <a:avLst/>
          </a:prstGeom>
          <a:solidFill>
            <a:srgbClr val="4EC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6E"/>
                </a:solidFill>
                <a:latin typeface="Microsoft YaHei"/>
              </a:defRPr>
            </a:pPr>
            <a:r>
              <a:t>2025</a:t>
            </a:r>
            <a:br/>
            <a:r>
              <a:t>RL Scaling 时代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743200"/>
            <a:ext cx="3200400" cy="173736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C96E"/>
                </a:solidFill>
                <a:latin typeface="Microsoft YaHei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verl/OpenRLHF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异构调度·长CoT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671B MoE·GRPO族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vLLM/SGLang标准化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0" y="214884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2025-2026</a:t>
            </a:r>
            <a:br/>
            <a:r>
              <a:t>Agentic RL 时代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743200"/>
            <a:ext cx="3200400" cy="269748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93D"/>
                </a:solidFill>
                <a:latin typeface="Microsoft YaHei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Forge异步Data Pool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SLIME双边IS修正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ROLL Chunked MDP+AgentServer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Seer Divided Rollout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ThunderAgent Program抽象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POMDP·多轮·变长轨迹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CM as Action·环境泄露防护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核心发现: 四大依赖总结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256032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9EFF"/>
                </a:solidFill>
                <a:latin typeface="Microsoft YaHei"/>
              </a:defRPr>
            </a:pPr>
            <a:r>
              <a:t>对 Rollout 的依赖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所有系统严重依赖高吞吐推理引擎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vLLM/SGLang 成为事实标准 (6/8系统)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Rollout 占总时间 63%-87%，是核心瓶颈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Agentic 场景: 工具调用 head-of-line blocking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趋势: 异步逐对话Server→工作流级调度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669280" cy="256032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C96E"/>
                </a:solidFill>
                <a:latin typeface="Microsoft YaHei"/>
              </a:defRPr>
            </a:pPr>
            <a:r>
              <a:t>对 Training 的依赖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Megatron-LM 主导 (6/8系统)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FSDP 适合中小规模研究场景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算法: PPO→GRPO(50%资源↓)→DAPO→CISPO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Agentic 新方向: Chunked MDP 匹配交互结构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异步训练 + Off-Policy 控制成新热点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840480"/>
            <a:ext cx="5669280" cy="256032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对 Data Processing 的依赖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零拷贝传输: CUDA IPC/RDMA/NIXL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前缀共享: RadixTrie/Prefix Tree (~40x)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数据质量: LLM-as-Judge / No-op 过滤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奖励演进: 人类标注→自动验证(RLVR)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Dense Reward 在 Agentic 场景愈发重要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669280" cy="2560320"/>
          </a:xfrm>
          <a:prstGeom prst="roundRect">
            <a:avLst/>
          </a:prstGeom>
          <a:solidFill>
            <a:srgbClr val="24253D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6AFF"/>
                </a:solidFill>
                <a:latin typeface="Microsoft YaHei"/>
              </a:defRPr>
            </a:pPr>
            <a:r>
              <a:t>对 I/O 的依赖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NCCL 仍是集合通信基础 (6/8系统)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权重同步方案差异最大 (各系统各异)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3D-HybridEngine(verl) vs CUDA IPC(SLIME)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ROLLMUX挂起/恢复(ROLL) vs Mooncake(Seer)</a:t>
            </a:r>
          </a:p>
          <a:p>
            <a:pPr>
              <a:spcBef>
                <a:spcPts val="2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  Gossip广播(rl-swarm): 去中心化新路径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未来展望: 8 大方向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8346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A9EFF"/>
                </a:solidFill>
                <a:latin typeface="Microsoft YaHei"/>
              </a:defRPr>
            </a:pPr>
            <a:r>
              <a:t>1. Token→Chunk/Turn级MDP</a:t>
            </a:r>
          </a:p>
          <a:p>
            <a:pPr>
              <a:spcBef>
                <a:spcPts val="10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Chunked MDP(ROLL)·Turn级(Forge)</a:t>
            </a:r>
            <a:br/>
            <a:r>
              <a:t>Bi-Level GAE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097280"/>
            <a:ext cx="28346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4EC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EC96E"/>
                </a:solidFill>
                <a:latin typeface="Microsoft YaHei"/>
              </a:defRPr>
            </a:pPr>
            <a:r>
              <a:t>2. 更长上下文 RL (200K+)</a:t>
            </a:r>
          </a:p>
          <a:p>
            <a:pPr>
              <a:spcBef>
                <a:spcPts val="10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Mooncake(Seer)·L3 Pool(Forge)</a:t>
            </a:r>
            <a:br/>
            <a:r>
              <a:t>防KV Thrashing(ThunderAgent)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28346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9F43"/>
                </a:solidFill>
                <a:latin typeface="Microsoft YaHei"/>
              </a:defRPr>
            </a:pPr>
            <a:r>
              <a:t>3. 异构硬件支持</a:t>
            </a:r>
          </a:p>
          <a:p>
            <a:pPr>
              <a:spcBef>
                <a:spcPts val="10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AMD GPU(ROLL/SLIME)</a:t>
            </a:r>
            <a:br/>
            <a:r>
              <a:t>消费级GPU(rl-swarm)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097280"/>
            <a:ext cx="28346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B06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06AFF"/>
                </a:solidFill>
                <a:latin typeface="Microsoft YaHei"/>
              </a:defRPr>
            </a:pPr>
            <a:r>
              <a:t>4. 多智能体 RL</a:t>
            </a:r>
          </a:p>
          <a:p>
            <a:pPr>
              <a:spcBef>
                <a:spcPts val="10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MrlX(MILES)·OpenClaw-RL(SLIME)</a:t>
            </a:r>
            <a:br/>
            <a:r>
              <a:t>Swarm(rl-swarm)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840480"/>
            <a:ext cx="28346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D93D"/>
                </a:solidFill>
                <a:latin typeface="Microsoft YaHei"/>
              </a:defRPr>
            </a:pPr>
            <a:r>
              <a:t>5. 去中心化训练</a:t>
            </a:r>
          </a:p>
          <a:p>
            <a:pPr>
              <a:spcBef>
                <a:spcPts val="10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SAPO Rollout共享(非梯度)</a:t>
            </a:r>
            <a:br/>
            <a:r>
              <a:t>rl-swarm 可行性已验证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840480"/>
            <a:ext cx="28346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6. 环境可扩展性</a:t>
            </a:r>
          </a:p>
          <a:p>
            <a:pPr>
              <a:spcBef>
                <a:spcPts val="10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AgentServer+Rock(ROLL)</a:t>
            </a:r>
            <a:br/>
            <a:r>
              <a:t>AWM/AutoForge 环境合成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28346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5FF"/>
                </a:solidFill>
                <a:latin typeface="Microsoft YaHei"/>
              </a:defRPr>
            </a:pPr>
            <a:r>
              <a:t>7. 安全与可信 RL</a:t>
            </a:r>
          </a:p>
          <a:p>
            <a:pPr>
              <a:spcBef>
                <a:spcPts val="10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环境泄露防护(ROLL)</a:t>
            </a:r>
            <a:br/>
            <a:r>
              <a:t>分布偏移·工具误用防范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3840480"/>
            <a:ext cx="2834640" cy="2560320"/>
          </a:xfrm>
          <a:prstGeom prst="roundRect">
            <a:avLst/>
          </a:prstGeom>
          <a:solidFill>
            <a:srgbClr val="24253D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A9EFF"/>
                </a:solidFill>
                <a:latin typeface="Microsoft YaHei"/>
              </a:defRPr>
            </a:pPr>
            <a:r>
              <a:t>8. 推理-训练协同调度</a:t>
            </a:r>
          </a:p>
          <a:p>
            <a:pPr>
              <a:spcBef>
                <a:spcPts val="1000"/>
              </a:spcBef>
              <a:defRPr sz="1100">
                <a:solidFill>
                  <a:srgbClr val="DDDDEE"/>
                </a:solidFill>
                <a:latin typeface="Microsoft YaHei"/>
              </a:defRPr>
            </a:pPr>
            <a:r>
              <a:t>Program抽象(ThunderAgent)</a:t>
            </a:r>
            <a:br/>
            <a:r>
              <a:t>工作流级协同调度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附录: RL 算法族谱 + 参考文献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50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算法族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特点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E5FF"/>
                          </a:solidFill>
                          <a:latin typeface="Microsoft YaHei"/>
                        </a:defRPr>
                      </a:pPr>
                      <a:r>
                        <a:t>系统覆盖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PPO (需Critic)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裁剪策略比率, KL惩罚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verl, ROLL, SLIME, Seer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GRPO (无Critic)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组内相对优势, 消除Critic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verl, ROLL, SLIME, MILES, Seer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DAPO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解耦Clip+动态采样, 防熵坍塌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verl, ROLL, SLIME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CISPO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裁剪IS权重, 全Token梯度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Forge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SAPO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共享Rollout文本(非梯度)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rl-swarm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Chunked MDP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Chunk级IS, 匹配Agent交互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ROLL</a:t>
                      </a:r>
                    </a:p>
                  </a:txBody>
                  <a:tcPr anchor="ctr">
                    <a:solidFill>
                      <a:srgbClr val="2829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DPO/SimPO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无RL循环, 偏好分类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DDDEE"/>
                          </a:solidFill>
                          <a:latin typeface="Microsoft YaHei"/>
                        </a:defRPr>
                      </a:pPr>
                      <a:r>
                        <a:t>verl (辅助)</a:t>
                      </a:r>
                    </a:p>
                  </a:txBody>
                  <a:tcPr anchor="ctr">
                    <a:solidFill>
                      <a:srgbClr val="20213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EFF"/>
                </a:solidFill>
                <a:latin typeface="Microsoft YaHei"/>
              </a:defRPr>
            </a:pPr>
            <a:r>
              <a:t>参考文献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1. verl/HybridFlow: arXiv 2409.19256, EuroSys 2025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2. ROLL: arXiv 2506.06122 / ROLLMUX: 2512.11306 / ROLLART: 2512.22560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3. SLIME/APRIL: arXiv 2509.18521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4. MILES/R3: arXiv 2510.11370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5. MiniMax Forge: HuggingFace Blog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6. Seer: arXiv 2511.14617  |  7. rl-swarm/SAPO: arXiv 2509.08721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8. ThunderAgent: arXiv 2602.13692 (Together AI)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9. The Landscape of Agentic RL for LLMs: arXiv 2509.02547, TMLR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